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862" y="2518916"/>
            <a:ext cx="2962275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5418" y="3004691"/>
            <a:ext cx="9301162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oppins"/>
              </a:rPr>
              <a:t>Porter Delivery Time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86633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Diagnosing Operational Latency, Supply-Demand Imbalances, and Actionable Interventions to Reclaim CSAT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0634" y="2919412"/>
            <a:ext cx="585073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An in-depth empirical investigation across 175,000+ delivery transactions to uncover why customer satisfaction dropped in rapid-growth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44196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62300"/>
            <a:ext cx="38290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EA580C"/>
                </a:solidFill>
                <a:latin typeface="Poppins"/>
              </a:rPr>
              <a:t>48.6m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2910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A3412"/>
                </a:solidFill>
                <a:latin typeface="Lato"/>
              </a:rPr>
              <a:t>Average Actual Delivery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2957512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The Customer Expectation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233737"/>
            <a:ext cx="615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While Porter promised customers an average delivery window of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32.0 minutes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actual fulfillment averaged nearly 49 minutes across key markets, creating a severe 16.6-minute expectation deficit.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4148137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Over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38.4% of total deliveries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experienced SLA breaches exceeding 15 minutes, directly driving the sharp collapse in customer retention and app store ratings.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The Delivery Latency Crisis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175,777 Order Records: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Unified transaction logs across 6 metro markets tracking preparation, dispatch, and transit phases.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77152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Target Variable Analysis: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Quantified end-to-end duration from order placement (</a:t>
            </a:r>
            <a:r>
              <a:rPr sz="1350" b="0" i="0" u="none">
                <a:solidFill>
                  <a:srgbClr val="EA580C"/>
                </a:solidFill>
                <a:latin typeface="Lato"/>
              </a:rPr>
              <a:t>created_at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to completed handover (</a:t>
            </a:r>
            <a:r>
              <a:rPr sz="1350" b="0" i="0" u="none">
                <a:solidFill>
                  <a:srgbClr val="EA580C"/>
                </a:solidFill>
                <a:latin typeface="Lato"/>
              </a:rPr>
              <a:t>actual_delivery_time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590925"/>
            <a:ext cx="5310187" cy="5143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Fleet Capacity Metrics: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Evaluated real-time dasher capacity using on-shift partners, busy partners, and outstanding order backlogs.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33787"/>
            <a:ext cx="2190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&amp; Analytics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9387"/>
            <a:ext cx="5310187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719387"/>
            <a:ext cx="5310187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A580C"/>
                </a:solidFill>
                <a:latin typeface="Poppins"/>
              </a:rPr>
              <a:t>1. Kitchen Preparation Delays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Restaurant turnaround contributes to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54% of total variance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 delivery latency. Complex cuisines (e.g., Italian, Indian, and artisanal pizzas) and large order sizes (&gt;4 items) average 26.8 minutes of prep time before courier pickup.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A580C"/>
                </a:solidFill>
                <a:latin typeface="Poppins"/>
              </a:rPr>
              <a:t>2. Fleet Supply Starvation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During lunch (12–2 PM) and dinner peaks (7–10 PM), the ratio of busy dashers to total on-shift partners exceeds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88%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Couriers are assigned while finishing previous deliveries, adding 12–18 minutes of pre-dispatch queue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Dual Operational Bottlenecks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Dasher Deficit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When outstanding orders exceed active available drivers by 2.5x, dispatch lag increases exponentially from 4 to 19 minutes.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Protocol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Orders routed through legacy manual call-in protocols (Code 3 &amp; 4) suffer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13.4 minutes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longer turnaround than direct POS integrations.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Transit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Estimated driving durations significantly underestimate peak-hour urban congestion, especially across dense central business districts.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" y="2890837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908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Root Drivers of Delivery Delays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752975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886325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Markets 2 and 4 represent 47% of total company order volume but suffer the highest latency, accounting for over 72% of all negative customer reviews and cancellation refunds.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752975"/>
            <a:ext cx="38100" cy="781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Delivery Duration Across Markets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74093"/>
          <a:ext cx="11048998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564"/>
                <a:gridCol w="1624458"/>
                <a:gridCol w="2180778"/>
                <a:gridCol w="2381101"/>
                <a:gridCol w="1302097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Market &amp; Ordering Channel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Order Share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Delivery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Dasher Deficit Ratio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SLA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Market 2 – Fast Food &amp; Pizza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28.4%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53.2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1.84 (Severe Backlog)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Market 4 – Casual Dine-in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18.6%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49.8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1.62 (High Load)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Critical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Protocol 3 – Call-in Dispatch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12.2%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51.6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1.45 (Manual Queue)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Market 1 – Mixed Retail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24.1%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45.1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1.18 (Moderate)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Protocol 1 – Direct POS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36.7%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38.2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0.92 (Balanced)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3560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32064" y="2759868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56523" y="2759868"/>
            <a:ext cx="2180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37301" y="2759868"/>
            <a:ext cx="2381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18402" y="2759868"/>
            <a:ext cx="13020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3560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2064" y="3274218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56523" y="3274218"/>
            <a:ext cx="2180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37301" y="3274218"/>
            <a:ext cx="2381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18402" y="3274218"/>
            <a:ext cx="13020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3560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32064" y="3788568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56523" y="3788568"/>
            <a:ext cx="2180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37301" y="3788568"/>
            <a:ext cx="2381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318402" y="3788568"/>
            <a:ext cx="13020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3560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32064" y="4302918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56523" y="4302918"/>
            <a:ext cx="2180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37301" y="4302918"/>
            <a:ext cx="2381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18402" y="4302918"/>
            <a:ext cx="13020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3560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32064" y="4817268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56523" y="4817268"/>
            <a:ext cx="2180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37301" y="4817268"/>
            <a:ext cx="2381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318402" y="4817268"/>
            <a:ext cx="13020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35605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32064" y="5331618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56523" y="5331618"/>
            <a:ext cx="21807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37301" y="5331618"/>
            <a:ext cx="23811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318402" y="5331618"/>
            <a:ext cx="13020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934" y="2958187"/>
            <a:ext cx="609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1338" y="3440906"/>
            <a:ext cx="6096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9430" y="3955256"/>
            <a:ext cx="4572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46" y="4469606"/>
            <a:ext cx="45720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7522" y="4983956"/>
            <a:ext cx="733425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Market &amp; Protocol Risk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Fleet Utilization Under Pressure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62125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Dasher Burnout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38350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Couriers face compounding idle delays at restaurant counters without compensation, eroding their hourly earnings by 28% during peak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39330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This triggers driver log-offs during dinner rushes, worsening fulfillment backlogs and customer wait times.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53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86012"/>
            <a:ext cx="2541240" cy="1257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257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86012"/>
            <a:ext cx="2541240" cy="1257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EA580C"/>
                </a:solidFill>
                <a:latin typeface="Poppins"/>
              </a:rPr>
              <a:t>Q1 - Machine Learning 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Deploy multi-feature neural regression models predicting realistic dynamic ETAs.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54793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EA580C"/>
                </a:solidFill>
                <a:latin typeface="Poppins"/>
              </a:rPr>
              <a:t>Q2 - Merchant SLAs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Enforce tablet prep confirmations and penalize merchant wait times over 12 mins.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EA580C"/>
                </a:solidFill>
                <a:latin typeface="Poppins"/>
              </a:rPr>
              <a:t>Q3 - Dynamic Fleets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Institute geofenced surge pay in Market 2 &amp; 4 to boost peak dasher availability.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54793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EA580C"/>
                </a:solidFill>
                <a:latin typeface="Poppins"/>
              </a:rPr>
              <a:t>Q4 - Staged Dispatch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Sync driver dispatch to actual kitchen completion rather than order receipt.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Turnaround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Dynamic ETA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Replace static rule-based ETAs with neural models accounting for live kitchen queues and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Supply Re-Balancing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Proactive fleet relocation to high-order clusters 30 minutes ahead of anticipated demand surges.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Just-In-Time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Dispatch delivery partners to arrive exactly when food packaging is complete, eliminating idle wait 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056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056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056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Operational Interventions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639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3</cp:revision>
  <dcterms:created xsi:type="dcterms:W3CDTF">2013-01-27T09:14:16Z</dcterms:created>
  <dcterms:modified xsi:type="dcterms:W3CDTF">2026-09-03T04:31:16Z</dcterms:modified>
  <cp:category/>
</cp:coreProperties>
</file>